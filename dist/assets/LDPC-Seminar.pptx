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live lab before presenting. Ask: if a radio receives the wrong bit, how could it know? The answer is structured redundancy. This seminar connects Module 7 linear block codes, error correction, and channel capacity.
Caveat: A visual journey from Hamming codes to modern error correction.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Redundancy costs bandwidth or time. We exchange that cost for reliability at a lower signal level. Distinguish error detection from correction: detecting a violated rule is easier than finding the original message.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syndrome is zero for a valid codeword. With the Hamming parity-check matrix, every column is a different nonzero binary vector. One error produces the column associated with its position. Do not claim that basic Hamming (7,4) can reliably distinguish every double error while correcting singles.
Caveat: Hamming (7,4) is not extended Hamming (8,4), which adds SECDED behavior.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a row such as x1 XOR x3 XOR x6 = 0. If five values in a six-bit check are known, the sixth is implied. The equation uses a column-vector convention; the Hamming slide uses the equivalent received row-vector convention with a transpose.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dense matrix would connect nearly everything and make iterative processing expensive. Sparse graphs keep each update local. Four-cycles correlate messages quickly; avoiding short cycles and selecting degree distributions matters for performance. The nominal design rate is one half; actual rank determines the true rate.
Caveat: The teaching graph may have short cycles. Standards use carefully designed constructions.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Sparse H does not imply a sparse generator matrix. Generic encoding can be more expensive than decoding. Structured quasi-cyclic constructions allow efficient encoding in real systems. The lab sends randomized valid codewords in the interactive sample.
Caveat: The lab encodes using GF(2) elimination. Production QC-LDPC encoders exploit matrix structure.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 appears in the noise normalization because one information bit consumes 1/R coded symbols. Without that factor, comparing code rates or reporting Eb/N0 would be misleading. This is a memoryless AWGN model; it does not model fading, intersymbol interference, or synchronization.
Caveat: Real-valued BPSK, one coded bit per real channel use, symbol energy normalized to one.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 prior probabilities are assumed. Show two received values, y=0.01 and y=2. Both hard-decide to zero, yet their confidence is different. A soft decoder uses that distinction. The lab clips messages to magnitude 24 for numerical stability.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Rotate the graph and click a node in the lab. Trace its highlighted edges. The 3D layout is only a visualization: rotating it does not change the matrix or code. A Tanner graph is bipartite; edges connect variables to checks, never two variables directly.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exclude the destination variable. Variable-to-check sums exclude the destination check. The posterior sum includes every check. This flooding schedule updates all checks before updating variables. On a tree this computes exact marginals; on a graph with cycles it is an iterative approximation.
Caveat: Normalized min-sum approximates the check update using sign products and minimum magnitude; this lab uses α = 0.8.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about two minutes. Use the default reproducible sample first. New noise changes the random seed; changing SNR keeps the same noise draw scaled to a different level. Move to Performance to show the difference between one frame and Monte Carlo statistics.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performance chart compares the received hard decisions and decoded codeword bits on the same coded BPSK channel. It is not a fair uncoded-versus-coded information-throughput benchmark. Short teaching codes can show rough curves and poor gains. A Hamming comparison would need matching energy normalization and enough trials.
Caveat: The lab measures 160 frames at each of 17 SNR points. Down arrows mark zero errors at 1/N as a plotting indicator, not a confidence bound.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Capacity is a property of a channel and its input constraints, not the performance of a particular decoder. The lab computes binary-input mutual information by Gaussian integration and solves C=R numerically. Do not place the universal −1.59 dB label at a rate-one-half BPSK threshold.
Caveat: At R = 1/2, the BPSK-constrained asymptotic Eb/N₀ threshold is about 0.19 dB. The wideband Gaussian limit −1.59 dB is a different operating limit.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saying all 5G channels use LDPC or that all Wi-Fi traffic uses it. Different standards and configurations select different codes. Practical decoders trade throughput, power, memory, iteration count, and reliability.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opening question. The receiver does not know the transmitted bits; it combines noisy evidence with shared constraints. In the lab we know the original codeword to visualize true errors, which a real receiver cannot directly observe.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source code and README document all simulation assumptions. Use the CSV export for a reproducible single-frame report. The BER chart uses all-zero codewords: for a linear code on a symmetric BPSK/AWGN channel with a symmetric decoder, this does not restrict the ensemble BER. Cite the standards for applications, not the small lab for standard performance.
Caveat: DOI: 10.1109/TIT.1962.1057683 · 10.1002/j.1538-7305.1948.tb01338.x. The downloadable deck includes speaker notes and an editable design.
Live lab: https://ldpc-signal-lab.heartyring65.chatgpt.site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ldpc-signal-lab.heartyring65.chatgpt.site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DCS SEMINAR · MODULE 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7223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1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little structure.</a:t>
            </a:r>
            <a:endParaRPr lang="en-US" sz="5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1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lot less noise.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786384" y="3813048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Low-Density Parity-Check Codes and Their Application in Modern Communication Systems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86384" y="50292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visual journey from Hamming codes to the channel capacity limit.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0" y="2148840"/>
            <a:ext cx="182880" cy="2880360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144691" y="2267414"/>
            <a:ext cx="-280851" cy="2761786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608423" y="2165615"/>
            <a:ext cx="-744583" cy="2863585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072154" y="2032639"/>
            <a:ext cx="-1208314" cy="2996561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608423" y="2165615"/>
            <a:ext cx="215537" cy="2863585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072154" y="2032639"/>
            <a:ext cx="-248194" cy="2996561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535886" y="2115625"/>
            <a:ext cx="-711926" cy="2913575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999617" y="2260342"/>
            <a:ext cx="-1175657" cy="2768858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535886" y="2115625"/>
            <a:ext cx="248194" cy="2913575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999617" y="2260342"/>
            <a:ext cx="-215537" cy="2768858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0463349" y="2197829"/>
            <a:ext cx="-679269" cy="2831371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927080" y="2044269"/>
            <a:ext cx="-1143000" cy="2984931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463349" y="2197829"/>
            <a:ext cx="280851" cy="2831371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0927080" y="2044269"/>
            <a:ext cx="-182880" cy="2984931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680960" y="2148840"/>
            <a:ext cx="3063240" cy="2880360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144691" y="2267414"/>
            <a:ext cx="2599509" cy="2761786"/>
          </a:xfrm>
          <a:prstGeom prst="line">
            <a:avLst/>
          </a:prstGeom>
          <a:noFill/>
          <a:ln w="10160">
            <a:solidFill>
              <a:srgbClr val="CAD5BB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621524" y="2089404"/>
            <a:ext cx="118872" cy="118872"/>
          </a:xfrm>
          <a:prstGeom prst="ellipse">
            <a:avLst/>
          </a:prstGeom>
          <a:solidFill>
            <a:srgbClr val="9EB787"/>
          </a:solidFill>
          <a:ln w="6350">
            <a:solidFill>
              <a:srgbClr val="819D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18562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6B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85255" y="2207978"/>
            <a:ext cx="118872" cy="118872"/>
          </a:xfrm>
          <a:prstGeom prst="ellipse">
            <a:avLst/>
          </a:prstGeom>
          <a:solidFill>
            <a:srgbClr val="9EB787"/>
          </a:solidFill>
          <a:ln w="6350">
            <a:solidFill>
              <a:srgbClr val="819D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53251" y="197480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6B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48987" y="2106179"/>
            <a:ext cx="118872" cy="118872"/>
          </a:xfrm>
          <a:prstGeom prst="ellipse">
            <a:avLst/>
          </a:prstGeom>
          <a:solidFill>
            <a:srgbClr val="9EB787"/>
          </a:solidFill>
          <a:ln w="6350">
            <a:solidFill>
              <a:srgbClr val="819D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16983" y="1873007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6B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12718" y="1973203"/>
            <a:ext cx="118872" cy="118872"/>
          </a:xfrm>
          <a:prstGeom prst="ellipse">
            <a:avLst/>
          </a:prstGeom>
          <a:solidFill>
            <a:srgbClr val="C99A76"/>
          </a:solidFill>
          <a:ln w="6350">
            <a:solidFill>
              <a:srgbClr val="AF64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80714" y="1740031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6B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476450" y="2056189"/>
            <a:ext cx="118872" cy="118872"/>
          </a:xfrm>
          <a:prstGeom prst="ellipse">
            <a:avLst/>
          </a:prstGeom>
          <a:solidFill>
            <a:srgbClr val="9EB787"/>
          </a:solidFill>
          <a:ln w="6350">
            <a:solidFill>
              <a:srgbClr val="819D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44446" y="1823017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6B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940181" y="2200906"/>
            <a:ext cx="118872" cy="118872"/>
          </a:xfrm>
          <a:prstGeom prst="ellipse">
            <a:avLst/>
          </a:prstGeom>
          <a:solidFill>
            <a:srgbClr val="9EB787"/>
          </a:solidFill>
          <a:ln w="6350">
            <a:solidFill>
              <a:srgbClr val="819D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08177" y="196773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6B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403913" y="2138393"/>
            <a:ext cx="118872" cy="118872"/>
          </a:xfrm>
          <a:prstGeom prst="ellipse">
            <a:avLst/>
          </a:prstGeom>
          <a:solidFill>
            <a:srgbClr val="9EB787"/>
          </a:solidFill>
          <a:ln w="6350">
            <a:solidFill>
              <a:srgbClr val="819D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71909" y="1905221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6B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x7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867644" y="1984833"/>
            <a:ext cx="118872" cy="118872"/>
          </a:xfrm>
          <a:prstGeom prst="ellipse">
            <a:avLst/>
          </a:prstGeom>
          <a:solidFill>
            <a:srgbClr val="9EB787"/>
          </a:solidFill>
          <a:ln w="6350">
            <a:solidFill>
              <a:srgbClr val="819D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35640" y="1751661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6B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804404" y="4969764"/>
            <a:ext cx="118872" cy="118872"/>
          </a:xfrm>
          <a:prstGeom prst="rect">
            <a:avLst/>
          </a:prstGeom>
          <a:solidFill>
            <a:srgbClr val="C5AD8F"/>
          </a:solidFill>
          <a:ln w="6350">
            <a:solidFill>
              <a:srgbClr val="AB92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5148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6B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764524" y="4969764"/>
            <a:ext cx="118872" cy="118872"/>
          </a:xfrm>
          <a:prstGeom prst="rect">
            <a:avLst/>
          </a:prstGeom>
          <a:solidFill>
            <a:srgbClr val="C5AD8F"/>
          </a:solidFill>
          <a:ln w="6350">
            <a:solidFill>
              <a:srgbClr val="AB927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2520" y="5148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6B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724644" y="4969764"/>
            <a:ext cx="118872" cy="118872"/>
          </a:xfrm>
          <a:prstGeom prst="rect">
            <a:avLst/>
          </a:prstGeom>
          <a:solidFill>
            <a:srgbClr val="C5AD8F"/>
          </a:solidFill>
          <a:ln w="6350">
            <a:solidFill>
              <a:srgbClr val="AB927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92640" y="5148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6B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684764" y="4969764"/>
            <a:ext cx="118872" cy="118872"/>
          </a:xfrm>
          <a:prstGeom prst="rect">
            <a:avLst/>
          </a:prstGeom>
          <a:solidFill>
            <a:srgbClr val="C5AD8F"/>
          </a:solidFill>
          <a:ln w="6350">
            <a:solidFill>
              <a:srgbClr val="AB927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652760" y="5148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6B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 / THE PROBLEM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 changes the message.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receiver sees a measurement, not a perfect bit. Error correction gives it evidence beyond that measurement.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noise and interference shift received amplitudes. A hard decision can flip a bit.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48056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Redundancy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Transmit extra, structured bits. Valid messages obey shared constraints.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18388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18388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those constraints to infer the most likely transmitted codeword.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bits → encoder → noisy channel → decoder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/ THE SYLLABUS CONNECTION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Hamming.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Hamming (7,4) carries 4 information bits in 7 transmitted bits. Its minimum distance is 3.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foundation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Hamming and LDPC are linear block codes defined by parity constraints.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48056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Hamming (7,4)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syndrome identifies any one-bit error. Two-bit errors are not safely corrected by the basic decoder.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18388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LDPC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18388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Longer blocks, sparse graphs, soft information, and iterative local updates.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= H rᵀ    over GF(2)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THE MATHEMATICAL FOUNDATION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code is a set of rules.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has m rows and n columns. Every row is one parity equation. Arithmetic is modulo 2.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Codeword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length-n binary vector x satisfying every parity equation.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48056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= n − rank(H), using rank over GF(2). Dependent rows do not add new rules.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18388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rate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18388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k/n. A lower rate spends more transmitted bits on redundancy.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 x = 0 (mod 2)       R = [n − rank(H)] / n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 / WHY LOW DENSITY?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is the whole point.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entries of H are zero. Each bit participates in only a few checks, even as the block becomes large.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 degree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lab uses three edges per variable node.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48056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degree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parity check has six variable neighbors.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18388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per iteration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18388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in the number of graph edges for a fixed-degree construction.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= n dᵥ = m d꜀       here: dᵥ = 3, d꜀ = 6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 / ENCODING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valid codeword.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information bits. Solve the parity constraints. Transmit all n bits.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k free coordinates after Gaussian elimination over GF(2).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48056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pivot coordinates from the reduced parity equations.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18388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18388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that Hx = 0 before transmission.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 ∈ {0,1}ᵏ   →   x ∈ {0,1}ⁿ   with Hx = 0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 / THE CHANNEL 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Bits become a waveform.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phase-shift keying sends 0 as +1 and 1 as −1. Add white Gaussian noise.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Modulate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41985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= 1 − 2x, giving a unit-energy coded symbol.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Corrupt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28853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s + z, where z is Gaussian with variance σ².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8463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Normalize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1572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SNR slider is Eb/N₀ per information bit, not per coded symbol.</a:t>
            </a:r>
            <a:endParaRPr lang="en-US" sz="1200" dirty="0"/>
          </a:p>
        </p:txBody>
      </p:sp>
      <p:pic>
        <p:nvPicPr>
          <p:cNvPr id="17" name="Image 0" descr="/home/nevedya/Projects/DCS_Presentation/ldpc-lab/dist/assets/channel-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3077434"/>
            <a:ext cx="5349240" cy="239477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" y="58338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σ² = 1 / [2R · 10^(Eb/N₀[dB]/10)]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 / SOFT INFORMATION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“Probably zero” is useful.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hard decision discards confidence. The log-likelihood ratio keeps both the sign and strength of the evidence.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Positive LLR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41985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Favors bit 0. Larger magnitude means stronger confidence.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Negative LLR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28853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Favors bit 1. The decoder can revise its initial decision.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8463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Near zero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1572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channel offers little evidence. Neighboring checks matter more.</a:t>
            </a:r>
            <a:endParaRPr lang="en-US" sz="1200" dirty="0"/>
          </a:p>
        </p:txBody>
      </p:sp>
      <p:pic>
        <p:nvPicPr>
          <p:cNvPr id="17" name="Image 0" descr="/home/nevedya/Projects/DCS_Presentation/ldpc-lab/dist/assets/belief-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8784" y="2926080"/>
            <a:ext cx="4898872" cy="26974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" y="58338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Lch = ln[P(y | x=0) / P(y | x=1)] = 2y / σ²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 / THE TANNER GRAPH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a matrix into a conversation.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Circles represent bits. Squares represent checks. An edge exists exactly when Hⱼᵢ = 1.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Variable nodes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41985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channel evidence and incoming check messages.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Check nodes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28853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an even XOR sum across their neighbors.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8463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Extrinsic evidence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1572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message excludes the edge it is sent back on. Avoid immediate self-reinforcement.</a:t>
            </a:r>
            <a:endParaRPr lang="en-US" sz="1200" dirty="0"/>
          </a:p>
        </p:txBody>
      </p:sp>
      <p:pic>
        <p:nvPicPr>
          <p:cNvPr id="17" name="Image 0" descr="/home/nevedya/Projects/DCS_Presentation/ldpc-lab/dist/assets/graph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6544" y="2926080"/>
            <a:ext cx="4823351" cy="26974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" y="58338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matrix entry of 1 = one graph edge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 / BELIEF PROPAGATION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messages. Global inference.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sum-product decoder alternates check updates and variable updates in the log domain.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update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incoming beliefs from every other variable connected to this check.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48056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 update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channel LLR to check messages from every other check.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18388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decision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18388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all incoming check messages and channel evidence; decide from the sign.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L꜀→ᵥ = 2 atanh[ ∏ tanh(Lᵥ′→꜀ / 2) ]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11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 / LIVE DEMO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the receiver a harder day.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lab. Move Eb/N₀, generate new noise, and watch confidence evolve one iteration at a time.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1 · Start at 2 dB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41985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red bit errors and unsatisfied checks.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2 · Press play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28853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LLR bars and parity-check count. Pause or step at any iteration.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8463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3 · Lower the SNR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1572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failed convergence and occasional wrong valid codewords.</a:t>
            </a:r>
            <a:endParaRPr lang="en-US" sz="1200" dirty="0"/>
          </a:p>
        </p:txBody>
      </p:sp>
      <p:pic>
        <p:nvPicPr>
          <p:cNvPr id="17" name="Image 0" descr="/home/nevedya/Projects/DCS_Presentation/ldpc-lab/dist/assets/graph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6544" y="2926080"/>
            <a:ext cx="4823351" cy="26974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" y="58338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 is random. Recovery is not guaranteed.</a:t>
            </a:r>
            <a:endParaRPr lang="en-US" sz="1700" dirty="0"/>
          </a:p>
        </p:txBody>
      </p:sp>
      <p:sp>
        <p:nvSpPr>
          <p:cNvPr id="19" name="Text 16">
            <a:hlinkClick r:id="rId2" tooltip=""/>
          </p:cNvPr>
          <p:cNvSpPr/>
          <p:nvPr/>
        </p:nvSpPr>
        <p:spPr>
          <a:xfrm>
            <a:off x="777240" y="592531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INTERACTIVE LAB ↗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11 / MEASURING PERFORMANCE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recovered frame is not a curve.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 error rate counts incorrect bits across many independent frames at each Eb/N₀.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BER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41985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incorrect coded bits divided by transmitted coded bits.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Waterfall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28853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long, well-designed LDPC codes show a steep BER improvement above a threshold.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8463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Finite samples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1572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observed errors does not prove zero BER. Collect more frames.</a:t>
            </a:r>
            <a:endParaRPr lang="en-US" sz="1200" dirty="0"/>
          </a:p>
        </p:txBody>
      </p:sp>
      <p:pic>
        <p:nvPicPr>
          <p:cNvPr id="17" name="Image 0" descr="/home/nevedya/Projects/DCS_Presentation/ldpc-lab/dist/assets/ber-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3077434"/>
            <a:ext cx="5349240" cy="239477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80760" y="5715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teaching code · 160 frames / point · ↓ indicates zero errors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13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 / THE SHANNON CONNECTION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limit, not a decoder.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channel capacity, suitable sequences of sufficiently long codes can make error probability arbitrarily small.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General AWGN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41985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real Gaussian input: C = ½ log₂(1 + S/N) bits per real channel use.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BPSK constraint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28853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input limits capacity to at most 1 bit per real use. The lab plots I(X;Y) for BPSK.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8463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7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Finite block length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1572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code with a finite iteration budget cannot promise capacity-achieving performance.</a:t>
            </a:r>
            <a:endParaRPr lang="en-US" sz="1200" dirty="0"/>
          </a:p>
        </p:txBody>
      </p:sp>
      <p:pic>
        <p:nvPicPr>
          <p:cNvPr id="17" name="Image 0" descr="/home/nevedya/Projects/DCS_Presentation/ldpc-lab/dist/assets/capacity-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3077434"/>
            <a:ext cx="5349240" cy="239477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80760" y="5715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BPSK-constrained AWGN capacity, not a measured decoding threshold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14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13 / REAL-WORLD COMMUNICATION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checks travel everywhere.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LDPC moved from Gallager’s 1962 idea to large, practical communication and storage systems.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5G NR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LDPC protects data channels. Polar codes handle control information. See 3GPP TS 38.212.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48056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Satellite &amp; Wi-Fi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DVB-S2 combines LDPC with an outer BCH code. Modern Wi-Fi supports LDPC.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18388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18388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reads and LDPC help recover data as flash memory becomes noisier.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in the code. Reliability in the system.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15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14 /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little structure goes a long way.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Hamming gives the foundation. Sparse graphs make local inference practical. Long, carefully designed codes approach capacity.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 the rule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codewords satisfy Hx = 0 over GF(2).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48056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 the process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information, extrinsic messages, iterative updates.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18388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 the caveat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18388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Parity success means a valid codeword. It does not prove the original message was recovered.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i="1" dirty="0">
                <a:solidFill>
                  <a:srgbClr val="657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worth asking: rate? block length? channel? decoder? evidence?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D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LDPC  /  THE SIGNAL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COMMUNICATION SYSTEMS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64008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8890">
            <a:solidFill>
              <a:srgbClr val="C6B99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9436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· INFORMATION THEORY &amp; CODING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32720" y="65196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13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16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914400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56B5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15 / REFERENCES &amp; REPRODUCIBILITY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the evidence.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Foundations, standards, and the exact assumptions behind this seminar.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R. G. Gallager (1962), Low-Density Parity-Check Codes, IEEE TIT. C. E. Shannon (1948), A Mathematical Theory of Communication.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48056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3GPP TS 38.212, NR multiplexing and channel coding. ETSI EN 302 307-1, DVB-S2. IEEE 802.11, wireless LAN.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3291840"/>
            <a:ext cx="3291840" cy="0"/>
          </a:xfrm>
          <a:prstGeom prst="line">
            <a:avLst/>
          </a:prstGeom>
          <a:noFill/>
          <a:ln w="8890">
            <a:solidFill>
              <a:srgbClr val="BAC9AC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18388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64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3C38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settings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183880" y="4434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 (3,6), n = 24/48/96, actual GF(2) rank, BPSK/AWGN, flooding schedule, LLR clipping ±24, deterministic seeds.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56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DOI: 10.1109/TIT.1962.1057683 · 10.1002/j.1538-7305.1948.tb01338.x. The downloadable deck includes speaker notes and an editable design.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DCS Seminar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LDPC Codes and Their Application in Modern Communication Systems</dc:title>
  <dc:subject>Digital Communication Systems · Module 7</dc:subject>
  <dc:creator>The Signal Lab</dc:creator>
  <cp:lastModifiedBy>The Signal Lab</cp:lastModifiedBy>
  <cp:revision>1</cp:revision>
  <dcterms:created xsi:type="dcterms:W3CDTF">2026-10-19T11:36:18Z</dcterms:created>
  <dcterms:modified xsi:type="dcterms:W3CDTF">2026-10-19T11:36:18Z</dcterms:modified>
</cp:coreProperties>
</file>